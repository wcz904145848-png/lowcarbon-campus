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2011680"/>
            <a:ext cx="7589520" cy="7589520"/>
          </a:xfrm>
          <a:prstGeom prst="ellipse">
            <a:avLst/>
          </a:prstGeom>
          <a:solidFill>
            <a:srgbClr val="2D6E57"/>
          </a:solidFill>
          <a:ln w="12700">
            <a:solidFill>
              <a:srgbClr val="2D6E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468880"/>
            <a:ext cx="5029200" cy="5029200"/>
          </a:xfrm>
          <a:prstGeom prst="ellipse">
            <a:avLst/>
          </a:prstGeom>
          <a:solidFill>
            <a:srgbClr val="367B61"/>
          </a:solidFill>
          <a:ln w="12700">
            <a:solidFill>
              <a:srgbClr val="367B6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1600200" cy="310896"/>
          </a:xfrm>
          <a:prstGeom prst="roundRect">
            <a:avLst/>
          </a:prstGeom>
          <a:solidFill>
            <a:srgbClr val="E3EFD3"/>
          </a:solidFill>
          <a:ln w="12700">
            <a:solidFill>
              <a:srgbClr val="E3EFD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81228"/>
            <a:ext cx="14356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课程选题汇报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80744"/>
            <a:ext cx="64008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碳种校园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758952" y="2587752"/>
            <a:ext cx="6629400" cy="1124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FED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基于低碳行为可视化与植物养成机制的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FED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校园游戏化交互设计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096" y="481888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E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让每一次低碳行动，都长成一片看得见的森林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6172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9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  /  碳减排核算 · 虚拟种树 · 校园社交 · 游戏化激励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69580" y="4293108"/>
            <a:ext cx="2560320" cy="400050"/>
          </a:xfrm>
          <a:prstGeom prst="ellipse">
            <a:avLst/>
          </a:prstGeom>
          <a:solidFill>
            <a:srgbClr val="CDDCC9">
              <a:alpha val="70000"/>
            </a:srgbClr>
          </a:solidFill>
          <a:ln w="12700">
            <a:solidFill>
              <a:srgbClr val="CDDCC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73718" y="3204972"/>
            <a:ext cx="304038" cy="1168146"/>
          </a:xfrm>
          <a:prstGeom prst="rect">
            <a:avLst/>
          </a:prstGeom>
          <a:solidFill>
            <a:srgbClr val="886448"/>
          </a:solidFill>
          <a:ln w="12700">
            <a:solidFill>
              <a:srgbClr val="88644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2564892"/>
            <a:ext cx="1216152" cy="1216152"/>
          </a:xfrm>
          <a:prstGeom prst="ellipse">
            <a:avLst/>
          </a:prstGeom>
          <a:solidFill>
            <a:srgbClr val="8CBD83"/>
          </a:solidFill>
          <a:ln w="12700">
            <a:solidFill>
              <a:srgbClr val="8CBD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57716" y="1956816"/>
            <a:ext cx="1360170" cy="1360170"/>
          </a:xfrm>
          <a:prstGeom prst="ellipse">
            <a:avLst/>
          </a:prstGeom>
          <a:solidFill>
            <a:srgbClr val="5EA573"/>
          </a:solidFill>
          <a:ln w="12700">
            <a:solidFill>
              <a:srgbClr val="5EA57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85782" y="2596896"/>
            <a:ext cx="1120140" cy="1120140"/>
          </a:xfrm>
          <a:prstGeom prst="ellipse">
            <a:avLst/>
          </a:prstGeom>
          <a:solidFill>
            <a:srgbClr val="A9D58F"/>
          </a:solidFill>
          <a:ln w="12700">
            <a:solidFill>
              <a:srgbClr val="A9D58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05672" y="2868930"/>
            <a:ext cx="1280160" cy="1280160"/>
          </a:xfrm>
          <a:prstGeom prst="ellipse">
            <a:avLst/>
          </a:prstGeom>
          <a:solidFill>
            <a:srgbClr val="8CBD83"/>
          </a:solidFill>
          <a:ln w="12700">
            <a:solidFill>
              <a:srgbClr val="8CBD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4702" y="4070543"/>
            <a:ext cx="1521562" cy="237744"/>
          </a:xfrm>
          <a:prstGeom prst="ellipse">
            <a:avLst/>
          </a:prstGeom>
          <a:solidFill>
            <a:srgbClr val="CDDCC9">
              <a:alpha val="70000"/>
            </a:srgbClr>
          </a:solidFill>
          <a:ln w="12700">
            <a:solidFill>
              <a:srgbClr val="CDDCC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90876" y="3423879"/>
            <a:ext cx="180685" cy="694212"/>
          </a:xfrm>
          <a:prstGeom prst="rect">
            <a:avLst/>
          </a:prstGeom>
          <a:solidFill>
            <a:srgbClr val="886448"/>
          </a:solidFill>
          <a:ln w="12700">
            <a:solidFill>
              <a:srgbClr val="88644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43917" y="3043489"/>
            <a:ext cx="722742" cy="722742"/>
          </a:xfrm>
          <a:prstGeom prst="ellipse">
            <a:avLst/>
          </a:prstGeom>
          <a:solidFill>
            <a:srgbClr val="337B5C"/>
          </a:solidFill>
          <a:ln w="12700">
            <a:solidFill>
              <a:srgbClr val="337B5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1366" y="2682118"/>
            <a:ext cx="808330" cy="808330"/>
          </a:xfrm>
          <a:prstGeom prst="ellipse">
            <a:avLst/>
          </a:prstGeom>
          <a:solidFill>
            <a:srgbClr val="4C986E"/>
          </a:solidFill>
          <a:ln w="12700">
            <a:solidFill>
              <a:srgbClr val="4C98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5188" y="3062508"/>
            <a:ext cx="665683" cy="665683"/>
          </a:xfrm>
          <a:prstGeom prst="ellipse">
            <a:avLst/>
          </a:prstGeom>
          <a:solidFill>
            <a:srgbClr val="78B47E"/>
          </a:solidFill>
          <a:ln w="12700">
            <a:solidFill>
              <a:srgbClr val="78B47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72151" y="3224174"/>
            <a:ext cx="760781" cy="760781"/>
          </a:xfrm>
          <a:prstGeom prst="ellipse">
            <a:avLst/>
          </a:prstGeom>
          <a:solidFill>
            <a:srgbClr val="337B5C"/>
          </a:solidFill>
          <a:ln w="12700">
            <a:solidFill>
              <a:srgbClr val="337B5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4344" y="4577486"/>
            <a:ext cx="1316736" cy="205740"/>
          </a:xfrm>
          <a:prstGeom prst="ellipse">
            <a:avLst/>
          </a:prstGeom>
          <a:solidFill>
            <a:srgbClr val="CDDCC9">
              <a:alpha val="70000"/>
            </a:srgbClr>
          </a:solidFill>
          <a:ln w="12700">
            <a:solidFill>
              <a:srgbClr val="CDDCC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92186" y="4017874"/>
            <a:ext cx="156362" cy="600761"/>
          </a:xfrm>
          <a:prstGeom prst="rect">
            <a:avLst/>
          </a:prstGeom>
          <a:solidFill>
            <a:srgbClr val="886448"/>
          </a:solidFill>
          <a:ln w="12700">
            <a:solidFill>
              <a:srgbClr val="88644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5395" y="3688690"/>
            <a:ext cx="625450" cy="625450"/>
          </a:xfrm>
          <a:prstGeom prst="ellipse">
            <a:avLst/>
          </a:prstGeom>
          <a:solidFill>
            <a:srgbClr val="337B5C"/>
          </a:solidFill>
          <a:ln w="12700">
            <a:solidFill>
              <a:srgbClr val="337B5C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3957" y="3375965"/>
            <a:ext cx="699516" cy="699516"/>
          </a:xfrm>
          <a:prstGeom prst="ellipse">
            <a:avLst/>
          </a:prstGeom>
          <a:solidFill>
            <a:srgbClr val="4C986E"/>
          </a:solidFill>
          <a:ln w="12700">
            <a:solidFill>
              <a:srgbClr val="4C986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5534" y="3705149"/>
            <a:ext cx="576072" cy="576072"/>
          </a:xfrm>
          <a:prstGeom prst="ellipse">
            <a:avLst/>
          </a:prstGeom>
          <a:solidFill>
            <a:srgbClr val="78B47E"/>
          </a:solidFill>
          <a:ln w="12700">
            <a:solidFill>
              <a:srgbClr val="78B47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02906" y="3845052"/>
            <a:ext cx="658368" cy="658368"/>
          </a:xfrm>
          <a:prstGeom prst="ellipse">
            <a:avLst/>
          </a:prstGeom>
          <a:solidFill>
            <a:srgbClr val="337B5C"/>
          </a:solidFill>
          <a:ln w="12700">
            <a:solidFill>
              <a:srgbClr val="337B5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WHY THIS TOPIC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研究背景｜低碳行为需要被看见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12280" cy="4379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47672"/>
            <a:ext cx="6144768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从“知道环保”到“愿意坚持”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05256" y="2633472"/>
            <a:ext cx="329184" cy="329184"/>
          </a:xfrm>
          <a:prstGeom prst="ellipse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79192"/>
            <a:ext cx="173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596896"/>
            <a:ext cx="1115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行为分散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06040" y="2587752"/>
            <a:ext cx="43068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步行、公交、节电、循环利用等行为融入日常，但难以集中记录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" y="3666744"/>
            <a:ext cx="329184" cy="329184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712464"/>
            <a:ext cx="173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1115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结果抽象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606040" y="3621024"/>
            <a:ext cx="43068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减排成果通常以不可感知的数字存在，缺少直观反馈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" y="4700016"/>
            <a:ext cx="329184" cy="329184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745736"/>
            <a:ext cx="173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663440"/>
            <a:ext cx="1115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动力不足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606040" y="4654296"/>
            <a:ext cx="43068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单次奖励容易消退，持续参与需要成长目标与社交联系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6096" y="1700784"/>
            <a:ext cx="3977640" cy="4379976"/>
          </a:xfrm>
          <a:prstGeom prst="roundRect">
            <a:avLst/>
          </a:prstGeom>
          <a:solidFill>
            <a:srgbClr val="E6F1E3"/>
          </a:solidFill>
          <a:ln w="12700">
            <a:solidFill>
              <a:srgbClr val="E6F1E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965960"/>
            <a:ext cx="30632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设计机会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782812" y="4201668"/>
            <a:ext cx="1828800" cy="285750"/>
          </a:xfrm>
          <a:prstGeom prst="ellipse">
            <a:avLst/>
          </a:prstGeom>
          <a:solidFill>
            <a:srgbClr val="CDDCC9">
              <a:alpha val="70000"/>
            </a:srgbClr>
          </a:solidFill>
          <a:ln w="12700">
            <a:solidFill>
              <a:srgbClr val="CDDCC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71482" y="3424428"/>
            <a:ext cx="217170" cy="834390"/>
          </a:xfrm>
          <a:prstGeom prst="rect">
            <a:avLst/>
          </a:prstGeom>
          <a:solidFill>
            <a:srgbClr val="886448"/>
          </a:solidFill>
          <a:ln w="12700">
            <a:solidFill>
              <a:srgbClr val="88644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2" y="2967228"/>
            <a:ext cx="868680" cy="868680"/>
          </a:xfrm>
          <a:prstGeom prst="ellipse">
            <a:avLst/>
          </a:prstGeom>
          <a:solidFill>
            <a:srgbClr val="8CBD83"/>
          </a:solidFill>
          <a:ln w="12700">
            <a:solidFill>
              <a:srgbClr val="8CBD8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60052" y="2532888"/>
            <a:ext cx="971550" cy="971550"/>
          </a:xfrm>
          <a:prstGeom prst="ellipse">
            <a:avLst/>
          </a:prstGeom>
          <a:solidFill>
            <a:srgbClr val="5EA573"/>
          </a:solidFill>
          <a:ln w="12700">
            <a:solidFill>
              <a:srgbClr val="5EA57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37242" y="2990088"/>
            <a:ext cx="800100" cy="800100"/>
          </a:xfrm>
          <a:prstGeom prst="ellipse">
            <a:avLst/>
          </a:prstGeom>
          <a:solidFill>
            <a:srgbClr val="A9D58F"/>
          </a:solidFill>
          <a:ln w="12700">
            <a:solidFill>
              <a:srgbClr val="A9D58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08592" y="3184398"/>
            <a:ext cx="914400" cy="914400"/>
          </a:xfrm>
          <a:prstGeom prst="ellipse">
            <a:avLst/>
          </a:prstGeom>
          <a:solidFill>
            <a:srgbClr val="8CBD83"/>
          </a:solidFill>
          <a:ln w="12700">
            <a:solidFill>
              <a:srgbClr val="8CBD8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4919472"/>
            <a:ext cx="338328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把行动数据转译为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可生长、可分享、可积累的生态景观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 &amp;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设计对象｜以校园为低碳行动场域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801368"/>
            <a:ext cx="3657600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2103120"/>
            <a:ext cx="3182112" cy="1152144"/>
          </a:xfrm>
          <a:prstGeom prst="roundRect">
            <a:avLst/>
          </a:prstGeom>
          <a:solidFill>
            <a:srgbClr val="E9F0DE"/>
          </a:solidFill>
          <a:ln w="12700">
            <a:solidFill>
              <a:srgbClr val="E9F0D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2295144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🚲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50392" y="3529584"/>
            <a:ext cx="31455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教学楼 / 图书馆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105656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步行、骑行、无纸化学习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71416" y="1801368"/>
            <a:ext cx="3657600" cy="3511296"/>
          </a:xfrm>
          <a:prstGeom prst="roundRect">
            <a:avLst/>
          </a:prstGeom>
          <a:solidFill>
            <a:srgbClr val="ECF4E4"/>
          </a:solidFill>
          <a:ln w="12700">
            <a:solidFill>
              <a:srgbClr val="ECF4E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03120"/>
            <a:ext cx="3182112" cy="1152144"/>
          </a:xfrm>
          <a:prstGeom prst="roundRect">
            <a:avLst/>
          </a:prstGeom>
          <a:solidFill>
            <a:srgbClr val="D0E6C1"/>
          </a:solidFill>
          <a:ln w="12700">
            <a:solidFill>
              <a:srgbClr val="D0E6C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24144" y="2295144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♻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27448" y="3529584"/>
            <a:ext cx="31455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 / 生活区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45736" y="4105656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节电、节水、闲置物品循环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48472" y="1801368"/>
            <a:ext cx="3657600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6216" y="2103120"/>
            <a:ext cx="3182112" cy="1152144"/>
          </a:xfrm>
          <a:prstGeom prst="roundRect">
            <a:avLst/>
          </a:prstGeom>
          <a:solidFill>
            <a:srgbClr val="E9F0DE"/>
          </a:solidFill>
          <a:ln w="12700">
            <a:solidFill>
              <a:srgbClr val="E9F0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295144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☕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604504" y="3529584"/>
            <a:ext cx="31455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食堂 / 商业区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22792" y="4105656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自带水杯、减少一次性用品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815584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目标用户：在校大学生    ·    核心场景：每日可记录的低碳行为    ·    社交范围：好友、宿舍、班级、学院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案例研究｜借鉴机制，而非复制种树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0936" y="1700784"/>
            <a:ext cx="108905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911096"/>
            <a:ext cx="1883664" cy="832104"/>
          </a:xfrm>
          <a:prstGeom prst="roundRect">
            <a:avLst/>
          </a:prstGeom>
          <a:solidFill>
            <a:srgbClr val="DCECCD"/>
          </a:solidFill>
          <a:ln w="12700">
            <a:solidFill>
              <a:srgbClr val="DCECC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93976"/>
            <a:ext cx="166420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蚂蚁森林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80944" y="1865376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现实低碳行为 → 绿色能量 → 虚拟树木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0088" y="222199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借鉴：行为与虚拟反馈的关联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90088" y="2551176"/>
            <a:ext cx="792784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差异化：可重点强化校园本地化与减排结果展示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" y="3136392"/>
            <a:ext cx="10890504" cy="1280160"/>
          </a:xfrm>
          <a:prstGeom prst="roundRect">
            <a:avLst/>
          </a:prstGeom>
          <a:solidFill>
            <a:srgbClr val="EDF3E9"/>
          </a:solidFill>
          <a:ln w="12700">
            <a:solidFill>
              <a:srgbClr val="EDF3E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346704"/>
            <a:ext cx="1883664" cy="832104"/>
          </a:xfrm>
          <a:prstGeom prst="roundRect">
            <a:avLst/>
          </a:prstGeom>
          <a:solidFill>
            <a:srgbClr val="D9EAE7"/>
          </a:solidFill>
          <a:ln w="12700">
            <a:solidFill>
              <a:srgbClr val="D9EAE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529584"/>
            <a:ext cx="166420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Forest 专注森林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80944" y="3300984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专注时间 → 树木成长 → 累积森林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90088" y="365760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借鉴：长期养成与个人成就记录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0088" y="3986784"/>
            <a:ext cx="792784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差异化：把成长机制由专注时间迁移为低碳数据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" y="4572000"/>
            <a:ext cx="108905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" y="4782312"/>
            <a:ext cx="1883664" cy="832104"/>
          </a:xfrm>
          <a:prstGeom prst="roundRect">
            <a:avLst/>
          </a:prstGeom>
          <a:solidFill>
            <a:srgbClr val="F3EACF"/>
          </a:solidFill>
          <a:ln w="12700">
            <a:solidFill>
              <a:srgbClr val="F3EAC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965192"/>
            <a:ext cx="166420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JouleBug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80944" y="473659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可持续行为挑战 → 团队参与 → 结果追踪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90088" y="50932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借鉴：任务机制与组织型社交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90088" y="5422392"/>
            <a:ext cx="792784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差异化：将团队协作与校园绿色空间共建结合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6236208"/>
            <a:ext cx="10607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资料：UNFCCC 蚂蚁森林案例；Forest App 官方应用页；JouleBug 官方产品说明（链接见末页）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DESIGN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设计定位｜一个核算、两层反馈、三类互动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993392"/>
            <a:ext cx="3127248" cy="1965960"/>
          </a:xfrm>
          <a:prstGeom prst="roundRect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112264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可信的行为记录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478024"/>
            <a:ext cx="290779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校园任务 → 行为量 → 估算减排量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单位：kg CO₂e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59352" y="2734056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81144" y="1993392"/>
            <a:ext cx="3108960" cy="1965960"/>
          </a:xfrm>
          <a:prstGeom prst="roundRect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11226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可见的树木成长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2478024"/>
            <a:ext cx="288950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个人树木、植物图鉴、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校园公共森林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99832" y="2734056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8366760" y="1993392"/>
            <a:ext cx="3099816" cy="1965960"/>
          </a:xfrm>
          <a:prstGeom prst="roundRect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112264"/>
            <a:ext cx="2825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有趣的校园互动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76488" y="2478024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种子盲盒、互换、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好友采集与共建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690872"/>
            <a:ext cx="9948672" cy="795528"/>
          </a:xfrm>
          <a:prstGeom prst="roundRect">
            <a:avLst/>
          </a:prstGeom>
          <a:solidFill>
            <a:srgbClr val="E5F1DE"/>
          </a:solidFill>
          <a:ln w="12700">
            <a:solidFill>
              <a:srgbClr val="E5F1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4882896"/>
            <a:ext cx="941832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核心价值：让校园低碳行为的成果 “可计算、可视化、可分享、可持续”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CARBON ACCOUNTING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核心机制①｜低碳成果如何被计算？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46504"/>
            <a:ext cx="672084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618134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估算减排量 = 基准情景排放量 − 实际情景排放量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24128" y="2816352"/>
            <a:ext cx="5925312" cy="786384"/>
          </a:xfrm>
          <a:prstGeom prst="roundRect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008376"/>
            <a:ext cx="561441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出行示例：距离 ×（原交通方式排放因子 − 实际交通方式排放因子）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3950208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演示用假设：原乘汽车 2 km，改为步行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4416552"/>
            <a:ext cx="58521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× (0.20 − 0) = 0.40 kg CO₂e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33272" y="5102352"/>
            <a:ext cx="5934456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8D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注：0.20 kg/km 仅为演示假设，不是正式校园核算系数。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0376" y="1746504"/>
            <a:ext cx="3877056" cy="4187952"/>
          </a:xfrm>
          <a:prstGeom prst="roundRect">
            <a:avLst/>
          </a:prstGeom>
          <a:solidFill>
            <a:srgbClr val="E6F1E3"/>
          </a:solidFill>
          <a:ln w="12700">
            <a:solidFill>
              <a:srgbClr val="E6F1E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204825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数据可靠性边界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2761488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48472" y="2743200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15984" y="2697480"/>
            <a:ext cx="20665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明确行为类别、时间、活动量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3474720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48472" y="345643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15984" y="3410712"/>
            <a:ext cx="20665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选取适用排放因子与基准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4187952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8472" y="416966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15984" y="4123944"/>
            <a:ext cx="20665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显示估算值、来源与置信提示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4901184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48472" y="4882896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防重复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15984" y="4837176"/>
            <a:ext cx="20665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同一行为不能重复申报计入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TO VISUAL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核心机制②｜从减排数字到树木生长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" y="1691640"/>
            <a:ext cx="1444752" cy="310896"/>
          </a:xfrm>
          <a:prstGeom prst="roundRect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14500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减排数据层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27064" y="1691640"/>
            <a:ext cx="1444752" cy="310896"/>
          </a:xfrm>
          <a:prstGeom prst="roundRect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14500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游戏表现层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" y="2194560"/>
            <a:ext cx="5148072" cy="3355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51176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真实行为成果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9264" y="3154680"/>
            <a:ext cx="4270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累计估算减排量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557016"/>
            <a:ext cx="258775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12.8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3218688" y="394106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kg CO₂e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4828032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保留个人累计记录；不因社交交易而转移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15584" y="334670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6291072" y="2194560"/>
            <a:ext cx="5202936" cy="3355848"/>
          </a:xfrm>
          <a:prstGeom prst="roundRect">
            <a:avLst/>
          </a:prstGeom>
          <a:solidFill>
            <a:srgbClr val="E6F1E3"/>
          </a:solidFill>
          <a:ln w="12700">
            <a:solidFill>
              <a:srgbClr val="E6F1E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89113" y="4180820"/>
            <a:ext cx="2092147" cy="326898"/>
          </a:xfrm>
          <a:prstGeom prst="ellipse">
            <a:avLst/>
          </a:prstGeom>
          <a:solidFill>
            <a:srgbClr val="CDDCC9">
              <a:alpha val="70000"/>
            </a:srgbClr>
          </a:solidFill>
          <a:ln w="12700">
            <a:solidFill>
              <a:srgbClr val="CDDC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91351" y="3291657"/>
            <a:ext cx="248442" cy="954542"/>
          </a:xfrm>
          <a:prstGeom prst="rect">
            <a:avLst/>
          </a:prstGeom>
          <a:solidFill>
            <a:srgbClr val="886448"/>
          </a:solidFill>
          <a:ln w="12700">
            <a:solidFill>
              <a:srgbClr val="88644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6783" y="2768620"/>
            <a:ext cx="993770" cy="993770"/>
          </a:xfrm>
          <a:prstGeom prst="ellipse">
            <a:avLst/>
          </a:prstGeom>
          <a:solidFill>
            <a:srgbClr val="8CBD83"/>
          </a:solidFill>
          <a:ln w="12700">
            <a:solidFill>
              <a:srgbClr val="8CBD8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78275" y="2271735"/>
            <a:ext cx="1111453" cy="1111453"/>
          </a:xfrm>
          <a:prstGeom prst="ellipse">
            <a:avLst/>
          </a:prstGeom>
          <a:solidFill>
            <a:srgbClr val="5EA573"/>
          </a:solidFill>
          <a:ln w="12700">
            <a:solidFill>
              <a:srgbClr val="5EA57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9781" y="2794772"/>
            <a:ext cx="915314" cy="915314"/>
          </a:xfrm>
          <a:prstGeom prst="ellipse">
            <a:avLst/>
          </a:prstGeom>
          <a:solidFill>
            <a:srgbClr val="A9D58F"/>
          </a:solidFill>
          <a:ln w="12700">
            <a:solidFill>
              <a:srgbClr val="A9D58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0605" y="3017063"/>
            <a:ext cx="1046074" cy="1046074"/>
          </a:xfrm>
          <a:prstGeom prst="ellipse">
            <a:avLst/>
          </a:prstGeom>
          <a:solidFill>
            <a:srgbClr val="8CBD83"/>
          </a:solidFill>
          <a:ln w="12700">
            <a:solidFill>
              <a:srgbClr val="8CBD8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4626864"/>
            <a:ext cx="460857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虚拟成长值 +128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8816" y="5157216"/>
            <a:ext cx="4800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模拟映射：每 0.1 kg CO₂e → 1 成长点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" y="5980176"/>
            <a:ext cx="10735056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关键原则：虚拟树木不等于实际固碳；“减排量”与“游戏成长值”分别记录、分别展示。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校园玩法｜从一次行动到一座森林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2039112"/>
            <a:ext cx="2130552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276856"/>
            <a:ext cx="704088" cy="704088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2459736"/>
            <a:ext cx="3200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31821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" y="3785616"/>
            <a:ext cx="18653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步行上课 / 自带杯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5768" y="3035808"/>
            <a:ext cx="2560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2953512" y="2039112"/>
            <a:ext cx="2130552" cy="2478024"/>
          </a:xfrm>
          <a:prstGeom prst="roundRect">
            <a:avLst/>
          </a:prstGeom>
          <a:solidFill>
            <a:srgbClr val="E8F2E5"/>
          </a:solidFill>
          <a:ln w="12700">
            <a:solidFill>
              <a:srgbClr val="E8F2E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2276856"/>
            <a:ext cx="704088" cy="704088"/>
          </a:xfrm>
          <a:prstGeom prst="ellipse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2459736"/>
            <a:ext cx="3200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36392" y="31821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90672" y="3785616"/>
            <a:ext cx="18653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生成估算减排量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65776" y="3035808"/>
            <a:ext cx="2560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5303520" y="2039112"/>
            <a:ext cx="2130552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2276856"/>
            <a:ext cx="704088" cy="704088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459736"/>
            <a:ext cx="3200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31821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3785616"/>
            <a:ext cx="18653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树木长叶、开花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15784" y="3035808"/>
            <a:ext cx="2560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7653528" y="2039112"/>
            <a:ext cx="2130552" cy="2478024"/>
          </a:xfrm>
          <a:prstGeom prst="roundRect">
            <a:avLst/>
          </a:prstGeom>
          <a:solidFill>
            <a:srgbClr val="E8F2E5"/>
          </a:solidFill>
          <a:ln w="12700">
            <a:solidFill>
              <a:srgbClr val="E8F2E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2276856"/>
            <a:ext cx="704088" cy="704088"/>
          </a:xfrm>
          <a:prstGeom prst="ellipse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2459736"/>
            <a:ext cx="3200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836408" y="31821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90688" y="3785616"/>
            <a:ext cx="18653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开种子盒、交换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65792" y="3035808"/>
            <a:ext cx="2560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31" name="Shape 29"/>
          <p:cNvSpPr/>
          <p:nvPr/>
        </p:nvSpPr>
        <p:spPr>
          <a:xfrm>
            <a:off x="10003536" y="2039112"/>
            <a:ext cx="2130552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16768" y="2276856"/>
            <a:ext cx="704088" cy="704088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99648" y="2459736"/>
            <a:ext cx="3200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186416" y="31821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共建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140696" y="3785616"/>
            <a:ext cx="18653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宿舍公共森林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06424" y="5074920"/>
            <a:ext cx="9966960" cy="685800"/>
          </a:xfrm>
          <a:prstGeom prst="roundRect">
            <a:avLst/>
          </a:prstGeom>
          <a:solidFill>
            <a:srgbClr val="E5F1DE"/>
          </a:solidFill>
          <a:ln w="12700">
            <a:solidFill>
              <a:srgbClr val="E5F1D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44168" y="5239512"/>
            <a:ext cx="9509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行为反馈闭环：行动 → 可量化结果 → 植物变化 → 社交鼓励 → 下一次行动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SOCIAL GAMIFICATION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社交机制｜盲盒交换服务于低碳目标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792224"/>
            <a:ext cx="5385816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2112264"/>
            <a:ext cx="521208" cy="521208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85416"/>
            <a:ext cx="347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27632" y="2048256"/>
            <a:ext cx="41879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植物盲盒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45920" y="2633472"/>
            <a:ext cx="41605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完成不同类型低碳任务，获得主题种子；随机性提供惊喜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7648" y="1792224"/>
            <a:ext cx="5385816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36" y="2112264"/>
            <a:ext cx="521208" cy="521208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185416"/>
            <a:ext cx="347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8624" y="2048256"/>
            <a:ext cx="41879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种子交换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296912" y="2633472"/>
            <a:ext cx="41605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重复种子在同学、宿舍或社区交换，促进真实关系连接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" y="3758184"/>
            <a:ext cx="5385816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" y="4078224"/>
            <a:ext cx="521208" cy="521208"/>
          </a:xfrm>
          <a:prstGeom prst="ellipse">
            <a:avLst/>
          </a:prstGeom>
          <a:solidFill>
            <a:srgbClr val="E5F2E5"/>
          </a:solidFill>
          <a:ln w="12700">
            <a:solidFill>
              <a:srgbClr val="E5F2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51376"/>
            <a:ext cx="347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27632" y="4014216"/>
            <a:ext cx="41879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好友采集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45920" y="4599432"/>
            <a:ext cx="41605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仅采集可开放的虚拟能量；允许回赠、浇水、互助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27648" y="3758184"/>
            <a:ext cx="5385816" cy="1719072"/>
          </a:xfrm>
          <a:prstGeom prst="roundRect">
            <a:avLst/>
          </a:prstGeom>
          <a:solidFill>
            <a:srgbClr val="E3F0DE"/>
          </a:solidFill>
          <a:ln w="12700">
            <a:solidFill>
              <a:srgbClr val="E3F0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4536" y="4078224"/>
            <a:ext cx="521208" cy="521208"/>
          </a:xfrm>
          <a:prstGeom prst="ellipse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4151376"/>
            <a:ext cx="347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♣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78624" y="4014216"/>
            <a:ext cx="41879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公共花园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296912" y="4599432"/>
            <a:ext cx="41605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个人累计贡献推动宿舍 / 学院虚拟景观逐步恢复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603504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防止游戏性盖过环保性：盲盒不付费；种子交易不改变真实减排记录；采集有上限、可退出。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INFORMATION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系统功能架构｜以碳数据为核心组织界面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4840" y="1655064"/>
            <a:ext cx="3282696" cy="859536"/>
          </a:xfrm>
          <a:prstGeom prst="roundRect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73936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校园绿色账户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44568" y="2139696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514600"/>
            <a:ext cx="1947672" cy="2898648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07792"/>
            <a:ext cx="2752344" cy="1847088"/>
          </a:xfrm>
          <a:prstGeom prst="roundRect">
            <a:avLst/>
          </a:prstGeom>
          <a:solidFill>
            <a:srgbClr val="E5F1DF"/>
          </a:solidFill>
          <a:ln w="12700">
            <a:solidFill>
              <a:srgbClr val="E5F1D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2666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低碳行动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3392424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任务选择 / 行为登记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估算排放因子 / 记录审核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514600"/>
            <a:ext cx="4882896" cy="2898648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2907792"/>
            <a:ext cx="2752344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302666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低碳账本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39312" y="3392424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 / 周 / 月减排趋势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行为类别分析 / 成果明细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514600"/>
            <a:ext cx="7818120" cy="2898648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2907792"/>
            <a:ext cx="2752344" cy="1847088"/>
          </a:xfrm>
          <a:prstGeom prst="roundRect">
            <a:avLst/>
          </a:prstGeom>
          <a:solidFill>
            <a:srgbClr val="E5F1DF"/>
          </a:solidFill>
          <a:ln w="12700">
            <a:solidFill>
              <a:srgbClr val="E5F1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02666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虚拟植物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4536" y="3392424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树木成长 / 植物图鉴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盲盒奖励 / 个人花园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2514600"/>
            <a:ext cx="10753344" cy="2898648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0032" y="2907792"/>
            <a:ext cx="2752344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7192" y="302666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校园社区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09760" y="3392424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好友采集 / 种子交换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宿舍共建 / 公共森林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5202936"/>
            <a:ext cx="9994392" cy="676656"/>
          </a:xfrm>
          <a:prstGeom prst="roundRect">
            <a:avLst/>
          </a:prstGeom>
          <a:solidFill>
            <a:srgbClr val="173D35"/>
          </a:solidFill>
          <a:ln w="12700">
            <a:solidFill>
              <a:srgbClr val="173D3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53949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底层逻辑：行为记录 → 核算规则 → 双账户（真实估算减排量 / 游戏成长资源） → 可视化反馈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DESIGN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技术路线｜课程原型如何落地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9224" y="1920240"/>
            <a:ext cx="2130552" cy="3054096"/>
          </a:xfrm>
          <a:prstGeom prst="roundRect">
            <a:avLst/>
          </a:prstGeom>
          <a:solidFill>
            <a:srgbClr val="E4F0DD"/>
          </a:solidFill>
          <a:ln w="12700">
            <a:solidFill>
              <a:srgbClr val="E4F0D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2231136"/>
            <a:ext cx="658368" cy="310896"/>
          </a:xfrm>
          <a:prstGeom prst="roundRect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2253996"/>
            <a:ext cx="49377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2788920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前期研究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575304"/>
            <a:ext cx="178308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资料收集 · 竞品分析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校园行为场景观察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063240"/>
            <a:ext cx="2926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2990088" y="1920240"/>
            <a:ext cx="2130552" cy="3054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2231136"/>
            <a:ext cx="658368" cy="310896"/>
          </a:xfrm>
          <a:prstGeom prst="roundRect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2253996"/>
            <a:ext cx="49377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36392" y="2788920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核算规则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63824" y="3575304"/>
            <a:ext cx="178308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筛选可核算任务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匹配因子、建立示例数据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84064" y="3063240"/>
            <a:ext cx="2926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5330952" y="1920240"/>
            <a:ext cx="2130552" cy="3054096"/>
          </a:xfrm>
          <a:prstGeom prst="roundRect">
            <a:avLst/>
          </a:prstGeom>
          <a:solidFill>
            <a:srgbClr val="E4F0DD"/>
          </a:solidFill>
          <a:ln w="12700">
            <a:solidFill>
              <a:srgbClr val="E4F0D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2231136"/>
            <a:ext cx="658368" cy="310896"/>
          </a:xfrm>
          <a:prstGeom prst="roundRect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2253996"/>
            <a:ext cx="49377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77256" y="2788920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机制设计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3575304"/>
            <a:ext cx="178308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双账户模型 · 树木成长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种子交换 · 社区协作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4928" y="3063240"/>
            <a:ext cx="2926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7671816" y="1920240"/>
            <a:ext cx="2130552" cy="3054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231136"/>
            <a:ext cx="658368" cy="310896"/>
          </a:xfrm>
          <a:prstGeom prst="roundRect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2253996"/>
            <a:ext cx="49377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2788920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原型制作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45552" y="3575304"/>
            <a:ext cx="178308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Figma页面与交互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/ PS绘制植物素材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65792" y="3063240"/>
            <a:ext cx="2926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500" dirty="0"/>
          </a:p>
        </p:txBody>
      </p:sp>
      <p:sp>
        <p:nvSpPr>
          <p:cNvPr id="31" name="Shape 29"/>
          <p:cNvSpPr/>
          <p:nvPr/>
        </p:nvSpPr>
        <p:spPr>
          <a:xfrm>
            <a:off x="10012680" y="1920240"/>
            <a:ext cx="2130552" cy="3054096"/>
          </a:xfrm>
          <a:prstGeom prst="roundRect">
            <a:avLst/>
          </a:prstGeom>
          <a:solidFill>
            <a:srgbClr val="E4F0DD"/>
          </a:solidFill>
          <a:ln w="12700">
            <a:solidFill>
              <a:srgbClr val="E4F0D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53344" y="2231136"/>
            <a:ext cx="658368" cy="310896"/>
          </a:xfrm>
          <a:prstGeom prst="roundRect">
            <a:avLst/>
          </a:prstGeom>
          <a:solidFill>
            <a:srgbClr val="CCE78F"/>
          </a:solidFill>
          <a:ln w="12700">
            <a:solidFill>
              <a:srgbClr val="CCE78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35640" y="2253996"/>
            <a:ext cx="49377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58984" y="2788920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体验评估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186416" y="3575304"/>
            <a:ext cx="178308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任务可用性测试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理解度 / 趣味性反馈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5660136"/>
            <a:ext cx="107259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课程实现边界：优先使用可点击原型＋模拟行为数据，不要求接入真实校园系统或完成完整软件开发。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09A73"/>
          </a:solidFill>
          <a:ln w="12700">
            <a:solidFill>
              <a:srgbClr val="409A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9184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OUTCOME &amp;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713232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预期成果｜把“看不见的减排”设计为“会生长的校园”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17320"/>
            <a:ext cx="10972800" cy="9144"/>
          </a:xfrm>
          <a:prstGeom prst="line">
            <a:avLst/>
          </a:prstGeom>
          <a:solidFill>
            <a:srgbClr val="DBE5DA"/>
          </a:solidFill>
          <a:ln w="12700">
            <a:solidFill>
              <a:srgbClr val="DBE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9648" y="651967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2376" y="1700784"/>
            <a:ext cx="10753344" cy="777240"/>
          </a:xfrm>
          <a:prstGeom prst="roundRect">
            <a:avLst/>
          </a:prstGeom>
          <a:solidFill>
            <a:srgbClr val="E8F2E4"/>
          </a:solidFill>
          <a:ln w="12700">
            <a:solidFill>
              <a:srgbClr val="E8F2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2938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63624" y="1856232"/>
            <a:ext cx="410565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校园低碳任务与核算规则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78424" y="1865376"/>
            <a:ext cx="5294376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行为类型、输入信息、演示算法与数据说明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" y="2624328"/>
            <a:ext cx="10753344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5292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63624" y="2779776"/>
            <a:ext cx="410565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个人碳账本与虚拟植物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78424" y="2788920"/>
            <a:ext cx="5294376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减排可视化、成长阶段、植物图鉴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" y="3547872"/>
            <a:ext cx="10753344" cy="777240"/>
          </a:xfrm>
          <a:prstGeom prst="roundRect">
            <a:avLst/>
          </a:prstGeom>
          <a:solidFill>
            <a:srgbClr val="E8F2E4"/>
          </a:solidFill>
          <a:ln w="12700">
            <a:solidFill>
              <a:srgbClr val="E8F2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76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63624" y="3703320"/>
            <a:ext cx="410565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校园种子社交与公共森林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78424" y="3712464"/>
            <a:ext cx="5294376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植物盲盒、好友交换、宿舍共建原型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" y="4471416"/>
            <a:ext cx="10753344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70001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A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63624" y="4626864"/>
            <a:ext cx="410565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完整课程展示成果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78424" y="4636008"/>
            <a:ext cx="5294376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功能框架、关键流程、Figma可交互界面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" y="5513832"/>
            <a:ext cx="45720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6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参考资料（官方公开信息）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5769864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unfccc.int/climate-action/momentum-for-change/planetary-health/alipay-ant-forest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5989320"/>
            <a:ext cx="10515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B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play.google.com/store/apps/details?id=cc.forestapp    |    joulebug.com/how-it-works/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2370</Words>
  <Application>WPS 演示</Application>
  <PresentationFormat>On-screen Show (16:9)</PresentationFormat>
  <Paragraphs>392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碳种校园——校园低碳行为成果可视化与虚拟植物养成交互设计</dc:title>
  <dc:creator>OpenAI</dc:creator>
  <dc:subject>校园低碳行为游戏化设计课程汇报</dc:subject>
  <cp:lastModifiedBy>二九</cp:lastModifiedBy>
  <cp:revision>2</cp:revision>
  <dcterms:created xsi:type="dcterms:W3CDTF">2026-10-09T09:32:00Z</dcterms:created>
  <dcterms:modified xsi:type="dcterms:W3CDTF">2026-10-09T09:37:16Z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7D8E85D7B2CA404B932356882ABD7D3D_13</vt:lpwstr>
  </property>
  <property fmtid="{D5CDD505-2E9C-101B-9397-08002B2CF9AE}" pid="3" name="KSOProductBuildVer">
    <vt:lpwstr>2052-12.1.0.28505</vt:lpwstr>
  </property>
</Properties>
</file>